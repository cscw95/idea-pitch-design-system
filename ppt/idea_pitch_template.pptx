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F3864"/>
                </a:solidFill>
                <a:latin typeface="NanumSquareOTF_ac ExtraBold"/>
                <a:ea typeface="NanumSquareOTF_ac ExtraBold"/>
              </a:rPr>
              <a:t>Idea Pitch Template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2000" b="0">
                <a:solidFill>
                  <a:srgbClr val="7F7F7F"/>
                </a:solidFill>
                <a:latin typeface="NanumSquareOTF_ac"/>
                <a:ea typeface="NanumSquareOTF_ac"/>
              </a:rPr>
              <a:t>Design System  |  토큰 · 컴포넌트 · 레이아웃 패턴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005840" cy="502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NAVY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3977639"/>
            <a:ext cx="1005840" cy="502920"/>
          </a:xfrm>
          <a:prstGeom prst="rect">
            <a:avLst/>
          </a:prstGeom>
          <a:solidFill>
            <a:srgbClr val="127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4526280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BLUE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3977639"/>
            <a:ext cx="1005840" cy="502920"/>
          </a:xfrm>
          <a:prstGeom prst="rect">
            <a:avLst/>
          </a:prstGeom>
          <a:solidFill>
            <a:srgbClr val="DCE7F2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4526280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SKY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977639"/>
            <a:ext cx="1005840" cy="502920"/>
          </a:xfrm>
          <a:prstGeom prst="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526280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STEEL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3977639"/>
            <a:ext cx="1005840" cy="5029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4526280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12080"/>
            <a:ext cx="10058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NanumSquareOTF_ac"/>
                <a:ea typeface="NanumSquareOTF_ac"/>
              </a:rPr>
              <a:t>Header → Governing Headline → Section Cards → Takeaway Bar 의 4-Zone 구조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6199632"/>
            <a:ext cx="11365992" cy="50292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이 파일의 '빈 템플릿' 슬라이드를 복제하거나 generate_template.py 컴포넌트를 조합해 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686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Design System</a:t>
            </a:r>
            <a:r>
              <a:rPr sz="2000" b="0">
                <a:solidFill>
                  <a:srgbClr val="7F7F7F"/>
                </a:solidFill>
                <a:latin typeface="NanumSquareOTF_ac"/>
                <a:ea typeface="NanumSquareOTF_ac"/>
              </a:rPr>
              <a:t>   |   </a:t>
            </a:r>
            <a:r>
              <a:rPr sz="20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① 디자인 토큰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005840"/>
            <a:ext cx="1136599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컬러는 NAVY 1색 지배 · 정보의 시제를 색·선 스타일로 구분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5486400" cy="4251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4520" y="1581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컬러 토큰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92024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NanumSquareOTF_ac Bold"/>
                <a:ea typeface="NanumSquareOTF_ac Bold"/>
              </a:rPr>
              <a:t>NAVY  #1F3864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176272"/>
            <a:ext cx="28346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NanumSquareOTF_ac"/>
                <a:ea typeface="NanumSquareOTF_ac"/>
              </a:rPr>
              <a:t>섹션 필 · 칩 · 결론 바 · 계획 개체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24912"/>
            <a:ext cx="1920240" cy="457200"/>
          </a:xfrm>
          <a:prstGeom prst="rect">
            <a:avLst/>
          </a:prstGeom>
          <a:solidFill>
            <a:srgbClr val="127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NanumSquareOTF_ac Bold"/>
                <a:ea typeface="NanumSquareOTF_ac Bold"/>
              </a:rPr>
              <a:t>BLUE  #1273C4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798064"/>
            <a:ext cx="28346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NanumSquareOTF_ac"/>
                <a:ea typeface="NanumSquareOTF_ac"/>
              </a:rPr>
              <a:t>포인트 액션 · 링크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46704"/>
            <a:ext cx="1920240" cy="457200"/>
          </a:xfrm>
          <a:prstGeom prst="rect">
            <a:avLst/>
          </a:prstGeom>
          <a:solidFill>
            <a:srgbClr val="DC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F3864"/>
                </a:solidFill>
                <a:latin typeface="NanumSquareOTF_ac Bold"/>
                <a:ea typeface="NanumSquareOTF_ac Bold"/>
              </a:rPr>
              <a:t>SKY  #DCE7F2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419856"/>
            <a:ext cx="28346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NanumSquareOTF_ac"/>
                <a:ea typeface="NanumSquareOTF_ac"/>
              </a:rPr>
              <a:t>강조 밴드 · 중간 결론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68496"/>
            <a:ext cx="1920240" cy="457200"/>
          </a:xfrm>
          <a:prstGeom prst="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NanumSquareOTF_ac Bold"/>
                <a:ea typeface="NanumSquareOTF_ac Bold"/>
              </a:rPr>
              <a:t>STEEL  #8C96A0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041648"/>
            <a:ext cx="28346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NanumSquareOTF_ac"/>
                <a:ea typeface="NanumSquareOTF_ac"/>
              </a:rPr>
              <a:t>현황·레거시 개체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590288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NanumSquareOTF_ac Bold"/>
                <a:ea typeface="NanumSquareOTF_ac Bold"/>
              </a:rPr>
              <a:t>GRAY  #7F7F7F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663440"/>
            <a:ext cx="28346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NanumSquareOTF_ac"/>
                <a:ea typeface="NanumSquareOTF_ac"/>
              </a:rPr>
              <a:t>보조설명 · → 파생 문장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21208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00000"/>
                </a:solidFill>
                <a:latin typeface="NanumSquareOTF_ac Bold"/>
                <a:ea typeface="NanumSquareOTF_ac Bold"/>
              </a:rPr>
              <a:t>RED  #C00000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285232"/>
            <a:ext cx="28346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NanumSquareOTF_ac"/>
                <a:ea typeface="NanumSquareOTF_ac"/>
              </a:rPr>
              <a:t>'지금' 시점 마커 (슬라이드당 1개)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605272" cy="4251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94675" y="1581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타이포그래피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148840"/>
            <a:ext cx="493776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Headline  26pt 나눔스퀘어 ExtraBold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NanumSquareOTF_ac Bold"/>
                <a:ea typeface="NanumSquareOTF_ac Bold"/>
              </a:rPr>
              <a:t>Card Head  15pt 나눔스퀘어 Bold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A1A1A"/>
                </a:solidFill>
                <a:latin typeface="NanumSquareOTF_ac"/>
                <a:ea typeface="NanumSquareOTF_ac"/>
              </a:rPr>
              <a:t>Body  12pt 나눔스퀘어 Regular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0">
                <a:solidFill>
                  <a:srgbClr val="7F7F7F"/>
                </a:solidFill>
                <a:latin typeface="NanumSquareOTF_ac Light"/>
                <a:ea typeface="NanumSquareOTF_ac Light"/>
              </a:rPr>
              <a:t>Sub / 각주  10.5pt 나눔스퀘어 Light Gray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1F3864"/>
                </a:solidFill>
                <a:latin typeface="NanumSquareOTF_ac ExtraBold"/>
                <a:ea typeface="NanumSquareOTF_ac ExtraBold"/>
              </a:rPr>
              <a:t>Chip · Pill  12–14pt ExtraBold White (NAVY 배경)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1F3864"/>
                </a:solidFill>
                <a:latin typeface="NanumSquareOTF_ac ExtraBold"/>
                <a:ea typeface="NanumSquareOTF_ac ExtraBold"/>
              </a:rPr>
              <a:t>Takeaway  16pt ExtraBold White (NAVY 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532120"/>
            <a:ext cx="49377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기본 서체: 나눔스퀘어 NanumSquareOTF_ac — L/R/B/EB 4웨이트 (hangeul.naver.com)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6199632"/>
            <a:ext cx="11365992" cy="50292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토큰 외 임의 색·크기 사용 금지 — 시제 규칙(과거 STEEL / 계획 NAVY / 미확정 점선)을 유지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686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Design System</a:t>
            </a:r>
            <a:r>
              <a:rPr sz="2000" b="0">
                <a:solidFill>
                  <a:srgbClr val="7F7F7F"/>
                </a:solidFill>
                <a:latin typeface="NanumSquareOTF_ac"/>
                <a:ea typeface="NanumSquareOTF_ac"/>
              </a:rPr>
              <a:t>   |   </a:t>
            </a:r>
            <a:r>
              <a:rPr sz="20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② 레이아웃 구조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11480" y="164592"/>
            <a:ext cx="11365992" cy="731520"/>
          </a:xfrm>
          <a:prstGeom prst="rect">
            <a:avLst/>
          </a:prstGeom>
          <a:noFill/>
          <a:ln w="12700">
            <a:solidFill>
              <a:srgbClr val="1273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05840"/>
            <a:ext cx="11365992" cy="548640"/>
          </a:xfrm>
          <a:prstGeom prst="rect">
            <a:avLst/>
          </a:prstGeom>
          <a:noFill/>
          <a:ln w="12700">
            <a:solidFill>
              <a:srgbClr val="1273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11091672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73C4"/>
                </a:solidFill>
                <a:latin typeface="NanumSquareOTF_ac Bold"/>
                <a:ea typeface="NanumSquareOTF_ac Bold"/>
              </a:rPr>
              <a:t>② Governing Headline — 26pt Bold 중앙, 슬라이드의 '판단' 한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5486400" cy="4251960"/>
          </a:xfrm>
          <a:prstGeom prst="rect">
            <a:avLst/>
          </a:prstGeom>
          <a:noFill/>
          <a:ln w="12700">
            <a:solidFill>
              <a:srgbClr val="1273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44468"/>
            <a:ext cx="521208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73C4"/>
                </a:solidFill>
                <a:latin typeface="NanumSquareOTF_ac Bold"/>
                <a:ea typeface="NanumSquareOTF_ac Bold"/>
              </a:rPr>
              <a:t>③-L Body 좌측 카드 (6.0in)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83080"/>
            <a:ext cx="5605272" cy="4251960"/>
          </a:xfrm>
          <a:prstGeom prst="rect">
            <a:avLst/>
          </a:prstGeom>
          <a:noFill/>
          <a:ln w="12700">
            <a:solidFill>
              <a:srgbClr val="1273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744468"/>
            <a:ext cx="5330952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73C4"/>
                </a:solidFill>
                <a:latin typeface="NanumSquareOTF_ac Bold"/>
                <a:ea typeface="NanumSquareOTF_ac Bold"/>
              </a:rPr>
              <a:t>③-R Body 우측 카드 스택 (6.13in)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99632"/>
            <a:ext cx="11365992" cy="502920"/>
          </a:xfrm>
          <a:prstGeom prst="rect">
            <a:avLst/>
          </a:prstGeom>
          <a:noFill/>
          <a:ln w="12700">
            <a:solidFill>
              <a:srgbClr val="1273C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438912"/>
            <a:ext cx="48463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73C4"/>
                </a:solidFill>
                <a:latin typeface="NanumSquareOTF_ac"/>
                <a:ea typeface="NanumSquareOTF_ac"/>
              </a:rPr>
              <a:t>① Header — 덱이름 | 섹션명 + 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254496"/>
            <a:ext cx="11365992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73C4"/>
                </a:solidFill>
                <a:latin typeface="NanumSquareOTF_ac"/>
                <a:ea typeface="NanumSquareOTF_ac"/>
              </a:rPr>
              <a:t>④ Takeaway Bar — NAVY 바, '행동 함의' 결론 (Headline과 다른 문장)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550408"/>
            <a:ext cx="54864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NanumSquareOTF_ac"/>
                <a:ea typeface="NanumSquareOTF_ac"/>
              </a:rPr>
              <a:t>좌우 마진 0.45in · 거터 0.30in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686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Design System</a:t>
            </a:r>
            <a:r>
              <a:rPr sz="2000" b="0">
                <a:solidFill>
                  <a:srgbClr val="7F7F7F"/>
                </a:solidFill>
                <a:latin typeface="NanumSquareOTF_ac"/>
                <a:ea typeface="NanumSquareOTF_ac"/>
              </a:rPr>
              <a:t>   |   </a:t>
            </a:r>
            <a:r>
              <a:rPr sz="20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③ 컴포넌트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005840"/>
            <a:ext cx="1136599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핵심 컴포넌트의 조합만으로 모든 슬라이드를 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29184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947672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Section Pill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3291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add_card() — 필이 카드 상단 테두리에 걸침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322576"/>
            <a:ext cx="1417320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라벨 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1" y="2240280"/>
            <a:ext cx="2395727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NanumSquareOTF_ac Bold"/>
                <a:ea typeface="NanumSquareOTF_ac Bold"/>
              </a:rPr>
              <a:t>add_chip_row() — 제목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NanumSquareOTF_ac"/>
                <a:ea typeface="NanumSquareOTF_ac"/>
              </a:rPr>
              <a:t>→ 보조 설명은 GRAY 10.5pt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566160"/>
            <a:ext cx="3291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Label Chip + 설명 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3291840" cy="411480"/>
          </a:xfrm>
          <a:prstGeom prst="rect">
            <a:avLst/>
          </a:prstGeom>
          <a:solidFill>
            <a:srgbClr val="DC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3864"/>
                </a:solidFill>
                <a:latin typeface="NanumSquareOTF_ac Bold"/>
                <a:ea typeface="NanumSquareOTF_ac Bold"/>
              </a:rPr>
              <a:t>Emphasis Band — 카드 내 중간 결론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3291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add_band()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09160" y="4389120"/>
            <a:ext cx="3017519" cy="0"/>
          </a:xfrm>
          <a:prstGeom prst="line">
            <a:avLst/>
          </a:prstGeom>
          <a:ln w="19050">
            <a:solidFill>
              <a:srgbClr val="C9CD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626864" y="4306824"/>
            <a:ext cx="164592" cy="16459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4507992"/>
            <a:ext cx="12801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anumSquareOTF_ac Bold"/>
                <a:ea typeface="NanumSquareOTF_ac Bold"/>
              </a:rPr>
              <a:t>완료</a:t>
            </a:r>
          </a:p>
        </p:txBody>
      </p:sp>
      <p:sp>
        <p:nvSpPr>
          <p:cNvPr id="16" name="Oval 15"/>
          <p:cNvSpPr/>
          <p:nvPr/>
        </p:nvSpPr>
        <p:spPr>
          <a:xfrm>
            <a:off x="6135624" y="4306824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4507992"/>
            <a:ext cx="12801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00000"/>
                </a:solidFill>
                <a:latin typeface="NanumSquareOTF_ac Bold"/>
                <a:ea typeface="NanumSquareOTF_ac Bold"/>
              </a:rPr>
              <a:t>현재</a:t>
            </a:r>
          </a:p>
        </p:txBody>
      </p:sp>
      <p:sp>
        <p:nvSpPr>
          <p:cNvPr id="18" name="Oval 17"/>
          <p:cNvSpPr/>
          <p:nvPr/>
        </p:nvSpPr>
        <p:spPr>
          <a:xfrm>
            <a:off x="7644383" y="4306824"/>
            <a:ext cx="164592" cy="164592"/>
          </a:xfrm>
          <a:prstGeom prst="ellipse">
            <a:avLst/>
          </a:prstGeom>
          <a:solidFill>
            <a:srgbClr val="DCE7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599" y="4507992"/>
            <a:ext cx="12801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anumSquareOTF_ac Bold"/>
                <a:ea typeface="NanumSquareOTF_ac Bold"/>
              </a:rPr>
              <a:t>예정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5074920"/>
            <a:ext cx="35661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add_timeline() — 현재는 RED 라벨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069080"/>
            <a:ext cx="1234440" cy="685800"/>
          </a:xfrm>
          <a:prstGeom prst="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NanumSquareOTF_ac Bold"/>
                <a:ea typeface="NanumSquareOTF_ac Bold"/>
              </a:rPr>
              <a:t>현황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4069080"/>
            <a:ext cx="1234440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NanumSquareOTF_ac Bold"/>
                <a:ea typeface="NanumSquareOTF_ac Bold"/>
              </a:rPr>
              <a:t>계획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489204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3864"/>
                </a:solidFill>
                <a:latin typeface="NanumSquareOTF_ac Bold"/>
                <a:ea typeface="NanumSquareOTF_ac Bold"/>
              </a:rPr>
              <a:t>미확정 수요 (점선)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440680"/>
            <a:ext cx="26517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add_entity() — 시제 3종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22960" y="5212080"/>
            <a:ext cx="914400" cy="41148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entagon 25"/>
          <p:cNvSpPr/>
          <p:nvPr/>
        </p:nvSpPr>
        <p:spPr>
          <a:xfrm>
            <a:off x="1920240" y="5212080"/>
            <a:ext cx="1920240" cy="411480"/>
          </a:xfrm>
          <a:prstGeom prst="homePlat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NanumSquareOTF_ac Bold"/>
                <a:ea typeface="NanumSquareOTF_ac Bold"/>
              </a:rPr>
              <a:t>Track Arrow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30175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NanumSquareOTF_ac"/>
                <a:ea typeface="NanumSquareOTF_ac"/>
              </a:rPr>
              <a:t>add_arrow() / add_track()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6199632"/>
            <a:ext cx="11365992" cy="50292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Takeaway Bar — add_takeaway() : 슬라이드당 1개, 16pt Bold White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686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Idea Pitch</a:t>
            </a:r>
            <a:r>
              <a:rPr sz="2000" b="0">
                <a:solidFill>
                  <a:srgbClr val="7F7F7F"/>
                </a:solidFill>
                <a:latin typeface="NanumSquareOTF_ac"/>
                <a:ea typeface="NanumSquareOTF_ac"/>
              </a:rPr>
              <a:t>   |   </a:t>
            </a:r>
            <a:r>
              <a:rPr sz="20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① 상황 인식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005840"/>
            <a:ext cx="1136599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핵심 판단 한 줄 — 현재 스탠스와 당사 구조의 특수성 제시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5486400" cy="4251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4520" y="1581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당사 방향성 (출처)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5486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anumSquareOTF_ac Bold"/>
                <a:ea typeface="NanumSquareOTF_ac Bold"/>
              </a:rPr>
              <a:t>카드 서브헤드 — 현황 요약 한 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715768"/>
            <a:ext cx="4846320" cy="0"/>
          </a:xfrm>
          <a:prstGeom prst="line">
            <a:avLst/>
          </a:prstGeom>
          <a:ln w="9525">
            <a:solidFill>
              <a:srgbClr val="C9CD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77240" y="3008376"/>
            <a:ext cx="1417320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주제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926080"/>
            <a:ext cx="335584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NanumSquareOTF_ac Bold"/>
                <a:ea typeface="NanumSquareOTF_ac Bold"/>
              </a:rPr>
              <a:t>다양한 항목이 제안되고 있으나, 아직 초기 단계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NanumSquareOTF_ac"/>
                <a:ea typeface="NanumSquareOTF_ac"/>
              </a:rPr>
              <a:t>관련 사례 A, 사례 B, 사례 C 나열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77056"/>
            <a:ext cx="1417320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차세대 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3794760"/>
            <a:ext cx="335584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NanumSquareOTF_ac Bold"/>
                <a:ea typeface="NanumSquareOTF_ac Bold"/>
              </a:rPr>
              <a:t>초기 아이디어 - 단, 현실적 제약 有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NanumSquareOTF_ac"/>
                <a:ea typeface="NanumSquareOTF_ac"/>
              </a:rPr>
              <a:t>제약 수치 1 · 제약 수치 2 · 미정 항목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745736"/>
            <a:ext cx="1417320" cy="4754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주요 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4663440"/>
            <a:ext cx="335584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NanumSquareOTF_ac Bold"/>
                <a:ea typeface="NanumSquareOTF_ac Bold"/>
              </a:rPr>
              <a:t>이해관계자별 상반된 입장 요약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NanumSquareOTF_ac"/>
                <a:ea typeface="NanumSquareOTF_ac"/>
              </a:rPr>
              <a:t>외부 권고 근거 ('34년~ 본격 투자)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504688"/>
            <a:ext cx="4754880" cy="411480"/>
          </a:xfrm>
          <a:prstGeom prst="rect">
            <a:avLst/>
          </a:prstGeom>
          <a:solidFill>
            <a:srgbClr val="DC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3864"/>
                </a:solidFill>
                <a:latin typeface="NanumSquareOTF_ac Bold"/>
                <a:ea typeface="NanumSquareOTF_ac Bold"/>
              </a:rPr>
              <a:t>▶  중간 결론 — 방향성은 도출, 단 전제 조건은 미확정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605272" cy="1965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94675" y="1581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생태계 동향 &amp;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938528"/>
            <a:ext cx="5605272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anumSquareOTF_ac Bold"/>
                <a:ea typeface="NanumSquareOTF_ac Bold"/>
              </a:rPr>
              <a:t>기술 개발·표준화 진행 중 — 요구사항 반영의 창은 한시적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20840" y="3063240"/>
            <a:ext cx="4480560" cy="0"/>
          </a:xfrm>
          <a:prstGeom prst="line">
            <a:avLst/>
          </a:prstGeom>
          <a:ln w="19050">
            <a:solidFill>
              <a:srgbClr val="C9CD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638544" y="2980944"/>
            <a:ext cx="164592" cy="16459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59" y="3182112"/>
            <a:ext cx="12801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anumSquareOTF_ac Bold"/>
                <a:ea typeface="NanumSquareOTF_ac Bold"/>
              </a:rPr>
              <a:t>'23.6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NanumSquareOTF_ac"/>
                <a:ea typeface="NanumSquareOTF_ac"/>
              </a:rPr>
              <a:t>비전 수립</a:t>
            </a:r>
          </a:p>
        </p:txBody>
      </p:sp>
      <p:sp>
        <p:nvSpPr>
          <p:cNvPr id="22" name="Oval 21"/>
          <p:cNvSpPr/>
          <p:nvPr/>
        </p:nvSpPr>
        <p:spPr>
          <a:xfrm>
            <a:off x="8132063" y="2980944"/>
            <a:ext cx="164592" cy="16459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4280" y="3182112"/>
            <a:ext cx="12801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00000"/>
                </a:solidFill>
                <a:latin typeface="NanumSquareOTF_ac Bold"/>
                <a:ea typeface="NanumSquareOTF_ac Bold"/>
              </a:rPr>
              <a:t>현재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NanumSquareOTF_ac"/>
                <a:ea typeface="NanumSquareOTF_ac"/>
              </a:rPr>
              <a:t>개발 경쟁</a:t>
            </a:r>
          </a:p>
        </p:txBody>
      </p:sp>
      <p:sp>
        <p:nvSpPr>
          <p:cNvPr id="24" name="Oval 23"/>
          <p:cNvSpPr/>
          <p:nvPr/>
        </p:nvSpPr>
        <p:spPr>
          <a:xfrm>
            <a:off x="9625584" y="2980944"/>
            <a:ext cx="164592" cy="16459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7800" y="3182112"/>
            <a:ext cx="12801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anumSquareOTF_ac Bold"/>
                <a:ea typeface="NanumSquareOTF_ac Bold"/>
              </a:rPr>
              <a:t>'29.3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NanumSquareOTF_ac"/>
                <a:ea typeface="NanumSquareOTF_ac"/>
              </a:rPr>
              <a:t>표준 배포</a:t>
            </a:r>
          </a:p>
        </p:txBody>
      </p:sp>
      <p:sp>
        <p:nvSpPr>
          <p:cNvPr id="26" name="Oval 25"/>
          <p:cNvSpPr/>
          <p:nvPr/>
        </p:nvSpPr>
        <p:spPr>
          <a:xfrm>
            <a:off x="11119104" y="2980944"/>
            <a:ext cx="164592" cy="164592"/>
          </a:xfrm>
          <a:prstGeom prst="ellipse">
            <a:avLst/>
          </a:prstGeom>
          <a:solidFill>
            <a:srgbClr val="DCE7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20" y="3182112"/>
            <a:ext cx="128016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NanumSquareOTF_ac Bold"/>
                <a:ea typeface="NanumSquareOTF_ac Bold"/>
              </a:rPr>
              <a:t>'31~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NanumSquareOTF_ac"/>
                <a:ea typeface="NanumSquareOTF_ac"/>
              </a:rPr>
              <a:t>상용화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069080"/>
            <a:ext cx="5605272" cy="1965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94675" y="3867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당사 구조의 특수성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224528"/>
            <a:ext cx="5605272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anumSquareOTF_ac Bold"/>
                <a:ea typeface="NanumSquareOTF_ac Bold"/>
              </a:rPr>
              <a:t>글로벌 다수와 다른 '집중형 구조'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983480"/>
            <a:ext cx="2331720" cy="777240"/>
          </a:xfrm>
          <a:prstGeom prst="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NanumSquareOTF_ac Bold"/>
                <a:ea typeface="NanumSquareOTF_ac Bold"/>
              </a:rPr>
              <a:t>Global 다수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anumSquareOTF_ac"/>
                <a:ea typeface="NanumSquareOTF_ac"/>
              </a:rPr>
              <a:t>분산형 구조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9720" y="4983480"/>
            <a:ext cx="233172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NanumSquareOTF_ac Bold"/>
                <a:ea typeface="NanumSquareOTF_ac Bold"/>
              </a:rPr>
              <a:t>당사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anumSquareOTF_ac"/>
                <a:ea typeface="NanumSquareOTF_ac"/>
              </a:rPr>
              <a:t>집중형 구조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6199632"/>
            <a:ext cx="11365992" cy="50292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행동 함의 결론 — 당사 특수성을 고려한 기술 개발 및 생태계 조성이 중요함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686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Idea Pitch</a:t>
            </a:r>
            <a:r>
              <a:rPr sz="2000" b="0">
                <a:solidFill>
                  <a:srgbClr val="7F7F7F"/>
                </a:solidFill>
                <a:latin typeface="NanumSquareOTF_ac"/>
                <a:ea typeface="NanumSquareOTF_ac"/>
              </a:rPr>
              <a:t>   |   </a:t>
            </a:r>
            <a:r>
              <a:rPr sz="20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② 방향성 제언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005840"/>
            <a:ext cx="1136599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핵심 판단 한 줄 — 투자의 시계와 설계의 시계는 다름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5989320" cy="4251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25980" y="1581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확장성 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598932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anumSquareOTF_ac Bold"/>
                <a:ea typeface="NanumSquareOTF_ac Bold"/>
              </a:rPr>
              <a:t>당사 구조가 유리한 기반임을 보여주는 전환 다이어그램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715768"/>
            <a:ext cx="5349240" cy="0"/>
          </a:xfrm>
          <a:prstGeom prst="line">
            <a:avLst/>
          </a:prstGeom>
          <a:ln w="9525">
            <a:solidFill>
              <a:srgbClr val="C9CD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77240" y="2971800"/>
            <a:ext cx="1600200" cy="1600200"/>
          </a:xfrm>
          <a:prstGeom prst="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NanumSquareOTF_ac Bold"/>
                <a:ea typeface="NanumSquareOTF_ac Bold"/>
              </a:rPr>
              <a:t>현재 자산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NanumSquareOTF_ac"/>
                <a:ea typeface="NanumSquareOTF_ac"/>
              </a:rPr>
              <a:t>(레거시)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14600" y="3566160"/>
            <a:ext cx="685800" cy="411480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4069080"/>
            <a:ext cx="960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NanumSquareOTF_ac"/>
                <a:ea typeface="NanumSquareOTF_ac"/>
              </a:rPr>
              <a:t>전환 기술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9718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3864"/>
                </a:solidFill>
                <a:latin typeface="NanumSquareOTF_ac Bold"/>
                <a:ea typeface="NanumSquareOTF_ac Bold"/>
              </a:rPr>
              <a:t>+ 신규 수요분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547872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3864"/>
                </a:solidFill>
                <a:latin typeface="NanumSquareOTF_ac Bold"/>
                <a:ea typeface="NanumSquareOTF_ac Bold"/>
              </a:rPr>
              <a:t>+ 증가분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4114800"/>
            <a:ext cx="1828800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NanumSquareOTF_ac Bold"/>
                <a:ea typeface="NanumSquareOTF_ac Bold"/>
              </a:rPr>
              <a:t>전환 개체 (계획)</a:t>
            </a:r>
          </a:p>
        </p:txBody>
      </p:sp>
      <p:sp>
        <p:nvSpPr>
          <p:cNvPr id="15" name="Up Arrow 14"/>
          <p:cNvSpPr/>
          <p:nvPr/>
        </p:nvSpPr>
        <p:spPr>
          <a:xfrm>
            <a:off x="5440680" y="3291840"/>
            <a:ext cx="457200" cy="822960"/>
          </a:xfrm>
          <a:prstGeom prst="upArrow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4160520"/>
            <a:ext cx="100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NanumSquareOTF_ac"/>
                <a:ea typeface="NanumSquareOTF_ac"/>
              </a:rPr>
              <a:t>수요 맞춤 증설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0600"/>
            <a:ext cx="5394960" cy="411480"/>
          </a:xfrm>
          <a:prstGeom prst="rect">
            <a:avLst/>
          </a:prstGeom>
          <a:solidFill>
            <a:srgbClr val="DC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F3864"/>
                </a:solidFill>
                <a:latin typeface="NanumSquareOTF_ac Bold"/>
                <a:ea typeface="NanumSquareOTF_ac Bold"/>
              </a:rPr>
              <a:t>자원 공유 기술과 결합 시, 비용 효율적·유연한 구축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394960"/>
            <a:ext cx="118872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하방 방어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440680"/>
            <a:ext cx="16459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anumSquareOTF_ac"/>
                <a:ea typeface="NanumSquareOTF_ac"/>
              </a:rPr>
              <a:t>수요 없어도 TCO 절감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5394960"/>
            <a:ext cx="118872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상방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440680"/>
            <a:ext cx="1371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A1A1A"/>
                </a:solidFill>
                <a:latin typeface="NanumSquareOTF_ac"/>
                <a:ea typeface="NanumSquareOTF_ac"/>
              </a:rPr>
              <a:t>수요 시 유연 증설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783080"/>
            <a:ext cx="5102352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46136" y="1581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한계 요인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2185416"/>
            <a:ext cx="12344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기울어진
운동장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2103120"/>
            <a:ext cx="317296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NanumSquareOTF_ac Bold"/>
                <a:ea typeface="NanumSquareOTF_ac Bold"/>
              </a:rPr>
              <a:t>외부 수요 중심 구조로 대기 시 선택지 소멸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NanumSquareOTF_ac"/>
                <a:ea typeface="NanumSquareOTF_ac"/>
              </a:rPr>
              <a:t>→ 수동적 Wait &amp; see 시 선택지 소멸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54096"/>
            <a:ext cx="12344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절반의
설계도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2971800"/>
            <a:ext cx="3172968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NanumSquareOTF_ac Bold"/>
                <a:ea typeface="NanumSquareOTF_ac Bold"/>
              </a:rPr>
              <a:t>Cross-domain 고려한 구조 준비 필요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NanumSquareOTF_ac"/>
                <a:ea typeface="NanumSquareOTF_ac"/>
              </a:rPr>
              <a:t>→ 단독 정의 불가 · 전사 공동 설계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4251960"/>
            <a:ext cx="5102352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46136" y="405079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방향성 제언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389120"/>
            <a:ext cx="5102352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anumSquareOTF_ac Bold"/>
                <a:ea typeface="NanumSquareOTF_ac Bold"/>
              </a:rPr>
              <a:t>Two-Track — 투자는 신중히, 확보는 가속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956048"/>
            <a:ext cx="109728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NanumSquareOTF_ac"/>
                <a:ea typeface="NanumSquareOTF_ac"/>
              </a:rPr>
              <a:t>지금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5212080"/>
            <a:ext cx="105156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투자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5212080"/>
            <a:ext cx="1737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3864"/>
                </a:solidFill>
                <a:latin typeface="NanumSquareOTF_ac Bold"/>
                <a:ea typeface="NanumSquareOTF_ac Bold"/>
              </a:rPr>
              <a:t>Wait &amp; See</a:t>
            </a:r>
          </a:p>
        </p:txBody>
      </p:sp>
      <p:sp>
        <p:nvSpPr>
          <p:cNvPr id="34" name="Pentagon 33"/>
          <p:cNvSpPr/>
          <p:nvPr/>
        </p:nvSpPr>
        <p:spPr>
          <a:xfrm>
            <a:off x="9921240" y="5212080"/>
            <a:ext cx="1600200" cy="384048"/>
          </a:xfrm>
          <a:prstGeom prst="homePlate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NanumSquareOTF_ac Bold"/>
                <a:ea typeface="NanumSquareOTF_ac Bold"/>
              </a:rPr>
              <a:t>단계적 투자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5669280"/>
            <a:ext cx="1051560" cy="3840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설계</a:t>
            </a:r>
          </a:p>
        </p:txBody>
      </p:sp>
      <p:sp>
        <p:nvSpPr>
          <p:cNvPr id="36" name="Pentagon 35"/>
          <p:cNvSpPr/>
          <p:nvPr/>
        </p:nvSpPr>
        <p:spPr>
          <a:xfrm>
            <a:off x="8138160" y="5669280"/>
            <a:ext cx="3383280" cy="384048"/>
          </a:xfrm>
          <a:prstGeom prst="homePlat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NanumSquareOTF_ac Bold"/>
                <a:ea typeface="NanumSquareOTF_ac Bold"/>
              </a:rPr>
              <a:t>전사 협력 — 확보 가속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6199632"/>
            <a:ext cx="11365992" cy="50292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행동 함의 결론 — 투자는 신중히 하되, 규합은 전사 협력으로 적극 확장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686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Idea Pitch</a:t>
            </a:r>
            <a:r>
              <a:rPr sz="2000" b="0">
                <a:solidFill>
                  <a:srgbClr val="7F7F7F"/>
                </a:solidFill>
                <a:latin typeface="NanumSquareOTF_ac"/>
                <a:ea typeface="NanumSquareOTF_ac"/>
              </a:rPr>
              <a:t>   |   </a:t>
            </a:r>
            <a:r>
              <a:rPr sz="20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① [섹션명]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005840"/>
            <a:ext cx="1136599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[거버닝 메시지 — 이 슬라이드의 판단 한 줄]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5486400" cy="4251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4520" y="1581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[좌측 섹션 라벨]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5486400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NanumSquareOTF_ac Bold"/>
                <a:ea typeface="NanumSquareOTF_ac Bold"/>
              </a:rPr>
              <a:t>[카드 서브헤드]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715768"/>
            <a:ext cx="4846320" cy="0"/>
          </a:xfrm>
          <a:prstGeom prst="line">
            <a:avLst/>
          </a:prstGeom>
          <a:ln w="9525">
            <a:solidFill>
              <a:srgbClr val="C9CDD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72200" y="1783080"/>
            <a:ext cx="5605272" cy="1965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94675" y="1581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[우상단 섹션 라벨]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69080"/>
            <a:ext cx="5605272" cy="1965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94675" y="3867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[우하단 섹션 라벨]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6199632"/>
            <a:ext cx="11365992" cy="50292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[행동 함의 결론 — Headline과 다른 문장으로]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6868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Idea Pitch</a:t>
            </a:r>
            <a:r>
              <a:rPr sz="2000" b="0">
                <a:solidFill>
                  <a:srgbClr val="7F7F7F"/>
                </a:solidFill>
                <a:latin typeface="NanumSquareOTF_ac"/>
                <a:ea typeface="NanumSquareOTF_ac"/>
              </a:rPr>
              <a:t>   |   </a:t>
            </a:r>
            <a:r>
              <a:rPr sz="20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② [섹션명]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1905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005840"/>
            <a:ext cx="11365992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A1A1A"/>
                </a:solidFill>
                <a:latin typeface="NanumSquareOTF_ac ExtraBold"/>
                <a:ea typeface="NanumSquareOTF_ac ExtraBold"/>
              </a:rPr>
              <a:t>[거버닝 메시지 — 이 슬라이드의 판단 한 줄]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83080"/>
            <a:ext cx="5532120" cy="4251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97380" y="1581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[좌측 섹션 라벨]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783080"/>
            <a:ext cx="5532120" cy="4251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9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31252" y="1581912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[우측 섹션 라벨]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6199632"/>
            <a:ext cx="11365992" cy="50292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anumSquareOTF_ac ExtraBold"/>
                <a:ea typeface="NanumSquareOTF_ac ExtraBold"/>
              </a:rPr>
              <a:t>[행동 함의 결론]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